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1" r:id="rId11"/>
    <p:sldId id="265" r:id="rId12"/>
    <p:sldId id="266" r:id="rId13"/>
    <p:sldId id="267" r:id="rId14"/>
    <p:sldId id="268" r:id="rId15"/>
    <p:sldId id="269" r:id="rId16"/>
  </p:sldIdLst>
  <p:sldSz cx="18288000" cy="10287000"/>
  <p:notesSz cx="6858000" cy="9144000"/>
  <p:embeddedFontLst>
    <p:embeddedFont>
      <p:font typeface="Canva Sans" panose="020B0604020202020204" charset="0"/>
      <p:regular r:id="rId17"/>
    </p:embeddedFont>
    <p:embeddedFont>
      <p:font typeface="Cormorant Garamond Bold Italics" panose="020B0604020202020204" charset="0"/>
      <p:regular r:id="rId18"/>
    </p:embeddedFont>
    <p:embeddedFont>
      <p:font typeface="DM Serif Display" pitchFamily="2" charset="0"/>
      <p:regular r:id="rId19"/>
    </p:embeddedFont>
    <p:embeddedFont>
      <p:font typeface="Quicksand" panose="020B0604020202020204" charset="0"/>
      <p:regular r:id="rId20"/>
    </p:embeddedFont>
    <p:embeddedFont>
      <p:font typeface="Quicksand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9158735" y="990600"/>
            <a:ext cx="8114971" cy="0"/>
          </a:xfrm>
          <a:prstGeom prst="line">
            <a:avLst/>
          </a:prstGeom>
          <a:ln w="76200" cap="flat">
            <a:solidFill>
              <a:srgbClr val="0F4662"/>
            </a:solidFill>
            <a:prstDash val="solid"/>
            <a:headEnd type="none" w="sm" len="sm"/>
            <a:tailEnd type="none" w="sm" len="sm"/>
          </a:ln>
        </p:spPr>
      </p:sp>
      <p:sp>
        <p:nvSpPr>
          <p:cNvPr id="3" name="AutoShape 3"/>
          <p:cNvSpPr/>
          <p:nvPr/>
        </p:nvSpPr>
        <p:spPr>
          <a:xfrm>
            <a:off x="1043764" y="9296400"/>
            <a:ext cx="8114971" cy="0"/>
          </a:xfrm>
          <a:prstGeom prst="line">
            <a:avLst/>
          </a:prstGeom>
          <a:ln w="76200" cap="flat">
            <a:solidFill>
              <a:srgbClr val="0F4662"/>
            </a:solidFill>
            <a:prstDash val="solid"/>
            <a:headEnd type="none" w="sm" len="sm"/>
            <a:tailEnd type="none" w="sm" len="sm"/>
          </a:ln>
        </p:spPr>
      </p:sp>
      <p:sp>
        <p:nvSpPr>
          <p:cNvPr id="4" name="Freeform 4"/>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0" y="0"/>
            <a:ext cx="977925" cy="916031"/>
          </a:xfrm>
          <a:custGeom>
            <a:avLst/>
            <a:gdLst/>
            <a:ahLst/>
            <a:cxnLst/>
            <a:rect l="l" t="t" r="r" b="b"/>
            <a:pathLst>
              <a:path w="977925" h="916031">
                <a:moveTo>
                  <a:pt x="0" y="0"/>
                </a:moveTo>
                <a:lnTo>
                  <a:pt x="977925" y="0"/>
                </a:lnTo>
                <a:lnTo>
                  <a:pt x="977925" y="916031"/>
                </a:lnTo>
                <a:lnTo>
                  <a:pt x="0" y="916031"/>
                </a:lnTo>
                <a:lnTo>
                  <a:pt x="0" y="0"/>
                </a:lnTo>
                <a:close/>
              </a:path>
            </a:pathLst>
          </a:custGeom>
          <a:blipFill>
            <a:blip r:embed="rId4"/>
            <a:stretch>
              <a:fillRect/>
            </a:stretch>
          </a:blipFill>
        </p:spPr>
      </p:sp>
      <p:sp>
        <p:nvSpPr>
          <p:cNvPr id="7" name="TextBox 7"/>
          <p:cNvSpPr txBox="1"/>
          <p:nvPr/>
        </p:nvSpPr>
        <p:spPr>
          <a:xfrm>
            <a:off x="977925" y="1413538"/>
            <a:ext cx="16229942" cy="2447190"/>
          </a:xfrm>
          <a:prstGeom prst="rect">
            <a:avLst/>
          </a:prstGeom>
        </p:spPr>
        <p:txBody>
          <a:bodyPr lIns="0" tIns="0" rIns="0" bIns="0" rtlCol="0" anchor="t">
            <a:spAutoFit/>
          </a:bodyPr>
          <a:lstStyle/>
          <a:p>
            <a:pPr marL="0" lvl="0" indent="0" algn="ctr">
              <a:lnSpc>
                <a:spcPts val="19990"/>
              </a:lnSpc>
              <a:spcBef>
                <a:spcPct val="0"/>
              </a:spcBef>
            </a:pPr>
            <a:r>
              <a:rPr lang="en-US" sz="14278" b="1" i="1">
                <a:solidFill>
                  <a:srgbClr val="0F4662"/>
                </a:solidFill>
                <a:latin typeface="Cormorant Garamond Bold Italics"/>
                <a:ea typeface="Cormorant Garamond Bold Italics"/>
                <a:cs typeface="Cormorant Garamond Bold Italics"/>
                <a:sym typeface="Cormorant Garamond Bold Italics"/>
              </a:rPr>
              <a:t>Quản Lí Quán Cà Phê</a:t>
            </a:r>
          </a:p>
        </p:txBody>
      </p:sp>
      <p:sp>
        <p:nvSpPr>
          <p:cNvPr id="8" name="TextBox 8"/>
          <p:cNvSpPr txBox="1"/>
          <p:nvPr/>
        </p:nvSpPr>
        <p:spPr>
          <a:xfrm>
            <a:off x="4717060" y="4844991"/>
            <a:ext cx="8481528" cy="3156585"/>
          </a:xfrm>
          <a:prstGeom prst="rect">
            <a:avLst/>
          </a:prstGeom>
        </p:spPr>
        <p:txBody>
          <a:bodyPr lIns="0" tIns="0" rIns="0" bIns="0" rtlCol="0" anchor="t">
            <a:spAutoFit/>
          </a:bodyPr>
          <a:lstStyle/>
          <a:p>
            <a:pPr algn="l">
              <a:lnSpc>
                <a:spcPts val="5040"/>
              </a:lnSpc>
            </a:pPr>
            <a:r>
              <a:rPr lang="en-US" sz="3600">
                <a:solidFill>
                  <a:srgbClr val="0F4662"/>
                </a:solidFill>
                <a:latin typeface="Quicksand"/>
                <a:ea typeface="Quicksand"/>
                <a:cs typeface="Quicksand"/>
                <a:sym typeface="Quicksand"/>
              </a:rPr>
              <a:t>Trần Quốc Anh Dũng - 2305CT2048</a:t>
            </a:r>
          </a:p>
          <a:p>
            <a:pPr algn="l">
              <a:lnSpc>
                <a:spcPts val="5040"/>
              </a:lnSpc>
            </a:pPr>
            <a:r>
              <a:rPr lang="en-US" sz="3600">
                <a:solidFill>
                  <a:srgbClr val="0F4662"/>
                </a:solidFill>
                <a:latin typeface="Quicksand"/>
                <a:ea typeface="Quicksand"/>
                <a:cs typeface="Quicksand"/>
                <a:sym typeface="Quicksand"/>
              </a:rPr>
              <a:t>Trịnh Gia Hưng - 2305CT7673</a:t>
            </a:r>
          </a:p>
          <a:p>
            <a:pPr algn="l">
              <a:lnSpc>
                <a:spcPts val="5040"/>
              </a:lnSpc>
            </a:pPr>
            <a:r>
              <a:rPr lang="en-US" sz="3600">
                <a:solidFill>
                  <a:srgbClr val="0F4662"/>
                </a:solidFill>
                <a:latin typeface="Quicksand"/>
                <a:ea typeface="Quicksand"/>
                <a:cs typeface="Quicksand"/>
                <a:sym typeface="Quicksand"/>
              </a:rPr>
              <a:t>Nguyễn Đức Thịnh - 2305CT2084</a:t>
            </a:r>
          </a:p>
          <a:p>
            <a:pPr algn="l">
              <a:lnSpc>
                <a:spcPts val="5040"/>
              </a:lnSpc>
            </a:pPr>
            <a:r>
              <a:rPr lang="en-US" sz="3600">
                <a:solidFill>
                  <a:srgbClr val="0F4662"/>
                </a:solidFill>
                <a:latin typeface="Quicksand"/>
                <a:ea typeface="Quicksand"/>
                <a:cs typeface="Quicksand"/>
                <a:sym typeface="Quicksand"/>
              </a:rPr>
              <a:t>Nguyễn Thị Hải Anh - 2305CT2348</a:t>
            </a:r>
          </a:p>
          <a:p>
            <a:pPr marL="0" lvl="0" indent="0" algn="l">
              <a:lnSpc>
                <a:spcPts val="5040"/>
              </a:lnSpc>
              <a:spcBef>
                <a:spcPct val="0"/>
              </a:spcBef>
            </a:pPr>
            <a:r>
              <a:rPr lang="en-US" sz="3600">
                <a:solidFill>
                  <a:srgbClr val="0F4662"/>
                </a:solidFill>
                <a:latin typeface="Quicksand"/>
                <a:ea typeface="Quicksand"/>
                <a:cs typeface="Quicksand"/>
                <a:sym typeface="Quicksand"/>
              </a:rPr>
              <a:t>Võ Thị Mỹ Tuyền - 2305CT7714</a:t>
            </a:r>
          </a:p>
        </p:txBody>
      </p:sp>
      <p:sp>
        <p:nvSpPr>
          <p:cNvPr id="9" name="TextBox 9"/>
          <p:cNvSpPr txBox="1"/>
          <p:nvPr/>
        </p:nvSpPr>
        <p:spPr>
          <a:xfrm>
            <a:off x="1222812" y="8732388"/>
            <a:ext cx="6988496" cy="525912"/>
          </a:xfrm>
          <a:prstGeom prst="rect">
            <a:avLst/>
          </a:prstGeom>
        </p:spPr>
        <p:txBody>
          <a:bodyPr lIns="0" tIns="0" rIns="0" bIns="0" rtlCol="0" anchor="t">
            <a:spAutoFit/>
          </a:bodyPr>
          <a:lstStyle/>
          <a:p>
            <a:pPr marL="0" lvl="0" indent="0" algn="ctr">
              <a:lnSpc>
                <a:spcPts val="4397"/>
              </a:lnSpc>
              <a:spcBef>
                <a:spcPct val="0"/>
              </a:spcBef>
            </a:pPr>
            <a:r>
              <a:rPr lang="en-US" sz="3141">
                <a:solidFill>
                  <a:srgbClr val="0F4662"/>
                </a:solidFill>
                <a:latin typeface="Quicksand"/>
                <a:ea typeface="Quicksand"/>
                <a:cs typeface="Quicksand"/>
                <a:sym typeface="Quicksand"/>
              </a:rPr>
              <a:t>Giảng viên : Lê Duy Tân</a:t>
            </a:r>
          </a:p>
        </p:txBody>
      </p:sp>
      <p:sp>
        <p:nvSpPr>
          <p:cNvPr id="10" name="TextBox 10"/>
          <p:cNvSpPr txBox="1"/>
          <p:nvPr/>
        </p:nvSpPr>
        <p:spPr>
          <a:xfrm>
            <a:off x="2793774" y="4070278"/>
            <a:ext cx="11643643" cy="529811"/>
          </a:xfrm>
          <a:prstGeom prst="rect">
            <a:avLst/>
          </a:prstGeom>
        </p:spPr>
        <p:txBody>
          <a:bodyPr lIns="0" tIns="0" rIns="0" bIns="0" rtlCol="0" anchor="t">
            <a:spAutoFit/>
          </a:bodyPr>
          <a:lstStyle/>
          <a:p>
            <a:pPr marL="0" lvl="0" indent="0" algn="ctr">
              <a:lnSpc>
                <a:spcPts val="4397"/>
              </a:lnSpc>
              <a:spcBef>
                <a:spcPct val="0"/>
              </a:spcBef>
            </a:pPr>
            <a:r>
              <a:rPr lang="en-US" sz="3141">
                <a:solidFill>
                  <a:srgbClr val="0F4662"/>
                </a:solidFill>
                <a:latin typeface="Quicksand"/>
                <a:ea typeface="Quicksand"/>
                <a:cs typeface="Quicksand"/>
                <a:sym typeface="Quicksand"/>
              </a:rPr>
              <a:t>Nhóm CF</a:t>
            </a:r>
          </a:p>
        </p:txBody>
      </p:sp>
      <p:sp>
        <p:nvSpPr>
          <p:cNvPr id="11" name="TextBox 11"/>
          <p:cNvSpPr txBox="1"/>
          <p:nvPr/>
        </p:nvSpPr>
        <p:spPr>
          <a:xfrm>
            <a:off x="1043764" y="168773"/>
            <a:ext cx="5358705" cy="521335"/>
          </a:xfrm>
          <a:prstGeom prst="rect">
            <a:avLst/>
          </a:prstGeom>
        </p:spPr>
        <p:txBody>
          <a:bodyPr lIns="0" tIns="0" rIns="0" bIns="0" rtlCol="0" anchor="t">
            <a:spAutoFit/>
          </a:bodyPr>
          <a:lstStyle/>
          <a:p>
            <a:pPr algn="ctr">
              <a:lnSpc>
                <a:spcPts val="4340"/>
              </a:lnSpc>
            </a:pPr>
            <a:r>
              <a:rPr lang="en-US" sz="3100">
                <a:solidFill>
                  <a:srgbClr val="0F4662"/>
                </a:solidFill>
                <a:latin typeface="Canva Sans"/>
                <a:ea typeface="Canva Sans"/>
                <a:cs typeface="Canva Sans"/>
                <a:sym typeface="Canva Sans"/>
              </a:rPr>
              <a:t>Đại học Hùng Vương TPHCM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54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1438006" y="250190"/>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I. Lí do chọn đề tài</a:t>
            </a:r>
          </a:p>
        </p:txBody>
      </p:sp>
      <p:sp>
        <p:nvSpPr>
          <p:cNvPr id="4" name="TextBox 4"/>
          <p:cNvSpPr txBox="1"/>
          <p:nvPr/>
        </p:nvSpPr>
        <p:spPr>
          <a:xfrm>
            <a:off x="1150605" y="2772305"/>
            <a:ext cx="16108695" cy="3800530"/>
          </a:xfrm>
          <a:prstGeom prst="rect">
            <a:avLst/>
          </a:prstGeom>
        </p:spPr>
        <p:txBody>
          <a:bodyPr lIns="0" tIns="0" rIns="0" bIns="0" rtlCol="0" anchor="t">
            <a:spAutoFit/>
          </a:bodyPr>
          <a:lstStyle/>
          <a:p>
            <a:pPr algn="l">
              <a:lnSpc>
                <a:spcPts val="6118"/>
              </a:lnSpc>
              <a:spcBef>
                <a:spcPct val="0"/>
              </a:spcBef>
            </a:pPr>
            <a:r>
              <a:rPr lang="en-US" sz="3599">
                <a:solidFill>
                  <a:srgbClr val="000000"/>
                </a:solidFill>
                <a:latin typeface="DM Serif Display"/>
                <a:ea typeface="DM Serif Display"/>
                <a:cs typeface="DM Serif Display"/>
                <a:sym typeface="DM Serif Display"/>
              </a:rPr>
              <a:t>Trong bối cảnh các quán cà phê ngày càng phát triển, việc quản lý thủ công gây khó khăn trong bán hàng, quản lý sản phẩm, nhân viên và doanh thu. Website Quản lý Quán Cà Phê được xây dựng nhằm tin học hóa quy trình vận hành, tăng hiệu quả quản lý và giảm sai sót. Mục tiêu là hỗ trợ quản trị viên, nhân viên thu ngân và quản lý theo dõi hoạt động kinh doanh theo thời gian thực.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1151369" y="250190"/>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II. Mục tiêu website</a:t>
            </a:r>
          </a:p>
        </p:txBody>
      </p:sp>
      <p:sp>
        <p:nvSpPr>
          <p:cNvPr id="4" name="TextBox 4"/>
          <p:cNvSpPr txBox="1"/>
          <p:nvPr/>
        </p:nvSpPr>
        <p:spPr>
          <a:xfrm>
            <a:off x="1305788" y="1580558"/>
            <a:ext cx="16371696" cy="2294379"/>
          </a:xfrm>
          <a:prstGeom prst="rect">
            <a:avLst/>
          </a:prstGeom>
        </p:spPr>
        <p:txBody>
          <a:bodyPr lIns="0" tIns="0" rIns="0" bIns="0" rtlCol="0" anchor="t">
            <a:spAutoFit/>
          </a:bodyPr>
          <a:lstStyle/>
          <a:p>
            <a:pPr algn="just">
              <a:lnSpc>
                <a:spcPts val="3683"/>
              </a:lnSpc>
              <a:spcBef>
                <a:spcPct val="0"/>
              </a:spcBef>
            </a:pPr>
            <a:r>
              <a:rPr lang="en-US" sz="2631">
                <a:solidFill>
                  <a:srgbClr val="000000"/>
                </a:solidFill>
                <a:latin typeface="DM Serif Display"/>
                <a:ea typeface="DM Serif Display"/>
                <a:cs typeface="DM Serif Display"/>
                <a:sym typeface="DM Serif Display"/>
              </a:rPr>
              <a:t>Cafe Management System - Sun Coffee là website quản lý quán cà phê được phát triển trên nền tảng Java Web, nhằm hỗ trợ tối ưu các hoạt động vận hành và quản lý trong quán. Hệ thống cung cấp đầy đủ các chức năng nghiệp vụ thiết yếu như: đăng nhập và phân quyền, gọi món POS, quản lý thực đơn, quản lý danh mục, quản lý đơn hàng và hóa đơn, quản lý nhân viên, quản lý kho nguyên liệu, cũng như thống kê doanh thu. Website phục vụ hai nhóm người dùng chính: </a:t>
            </a:r>
          </a:p>
        </p:txBody>
      </p:sp>
      <p:sp>
        <p:nvSpPr>
          <p:cNvPr id="5" name="TextBox 5"/>
          <p:cNvSpPr txBox="1"/>
          <p:nvPr/>
        </p:nvSpPr>
        <p:spPr>
          <a:xfrm>
            <a:off x="1783515" y="4622062"/>
            <a:ext cx="6120036" cy="4961231"/>
          </a:xfrm>
          <a:prstGeom prst="rect">
            <a:avLst/>
          </a:prstGeom>
        </p:spPr>
        <p:txBody>
          <a:bodyPr lIns="0" tIns="0" rIns="0" bIns="0" rtlCol="0" anchor="t">
            <a:spAutoFit/>
          </a:bodyPr>
          <a:lstStyle/>
          <a:p>
            <a:pPr algn="just">
              <a:lnSpc>
                <a:spcPts val="3969"/>
              </a:lnSpc>
              <a:spcBef>
                <a:spcPct val="0"/>
              </a:spcBef>
            </a:pPr>
            <a:r>
              <a:rPr lang="en-US" sz="2835">
                <a:solidFill>
                  <a:srgbClr val="000000"/>
                </a:solidFill>
                <a:latin typeface="DM Serif Display"/>
                <a:ea typeface="DM Serif Display"/>
                <a:cs typeface="DM Serif Display"/>
                <a:sym typeface="DM Serif Display"/>
              </a:rPr>
              <a:t>+ Quản trị viên: Có quyền quản lý toàn bộ dữ liệu hệ thống, bao gồm:</a:t>
            </a:r>
          </a:p>
          <a:p>
            <a:pPr algn="just">
              <a:lnSpc>
                <a:spcPts val="3969"/>
              </a:lnSpc>
              <a:spcBef>
                <a:spcPct val="0"/>
              </a:spcBef>
            </a:pPr>
            <a:endParaRPr lang="en-US" sz="2835">
              <a:solidFill>
                <a:srgbClr val="000000"/>
              </a:solidFill>
              <a:latin typeface="DM Serif Display"/>
              <a:ea typeface="DM Serif Display"/>
              <a:cs typeface="DM Serif Display"/>
              <a:sym typeface="DM Serif Display"/>
            </a:endParaRP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Thực đơn</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Danh mục</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Đơn hàng</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Nhân viên</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Kho nguyên liệu</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Theo dõi báo cáo</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Thống kê doanh thu</a:t>
            </a:r>
          </a:p>
        </p:txBody>
      </p:sp>
      <p:sp>
        <p:nvSpPr>
          <p:cNvPr id="6" name="TextBox 6"/>
          <p:cNvSpPr txBox="1"/>
          <p:nvPr/>
        </p:nvSpPr>
        <p:spPr>
          <a:xfrm>
            <a:off x="10630553" y="4622062"/>
            <a:ext cx="6120036" cy="3465545"/>
          </a:xfrm>
          <a:prstGeom prst="rect">
            <a:avLst/>
          </a:prstGeom>
        </p:spPr>
        <p:txBody>
          <a:bodyPr lIns="0" tIns="0" rIns="0" bIns="0" rtlCol="0" anchor="t">
            <a:spAutoFit/>
          </a:bodyPr>
          <a:lstStyle/>
          <a:p>
            <a:pPr algn="just">
              <a:lnSpc>
                <a:spcPts val="3969"/>
              </a:lnSpc>
              <a:spcBef>
                <a:spcPct val="0"/>
              </a:spcBef>
            </a:pPr>
            <a:r>
              <a:rPr lang="en-US" sz="2835">
                <a:solidFill>
                  <a:srgbClr val="000000"/>
                </a:solidFill>
                <a:latin typeface="DM Serif Display"/>
                <a:ea typeface="DM Serif Display"/>
                <a:cs typeface="DM Serif Display"/>
                <a:sym typeface="DM Serif Display"/>
              </a:rPr>
              <a:t>+ Nhân viên: Sử dụng giao diện POS để thực hiện các thao tác:</a:t>
            </a:r>
          </a:p>
          <a:p>
            <a:pPr algn="just">
              <a:lnSpc>
                <a:spcPts val="3969"/>
              </a:lnSpc>
              <a:spcBef>
                <a:spcPct val="0"/>
              </a:spcBef>
            </a:pPr>
            <a:endParaRPr lang="en-US" sz="2835">
              <a:solidFill>
                <a:srgbClr val="000000"/>
              </a:solidFill>
              <a:latin typeface="DM Serif Display"/>
              <a:ea typeface="DM Serif Display"/>
              <a:cs typeface="DM Serif Display"/>
              <a:sym typeface="DM Serif Display"/>
            </a:endParaRP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Bán hàng </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Chọn món,</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 Tạo đơn hàng </a:t>
            </a:r>
          </a:p>
          <a:p>
            <a:pPr algn="just">
              <a:lnSpc>
                <a:spcPts val="3969"/>
              </a:lnSpc>
              <a:spcBef>
                <a:spcPct val="0"/>
              </a:spcBef>
            </a:pPr>
            <a:r>
              <a:rPr lang="en-US" sz="2835">
                <a:solidFill>
                  <a:srgbClr val="000000"/>
                </a:solidFill>
                <a:latin typeface="DM Serif Display"/>
                <a:ea typeface="DM Serif Display"/>
                <a:cs typeface="DM Serif Display"/>
                <a:sym typeface="DM Serif Display"/>
              </a:rPr>
              <a:t>• Thanh toán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753263" y="361660"/>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III. Công nghệ sử dụng</a:t>
            </a:r>
          </a:p>
        </p:txBody>
      </p:sp>
      <p:sp>
        <p:nvSpPr>
          <p:cNvPr id="4" name="TextBox 4"/>
          <p:cNvSpPr txBox="1"/>
          <p:nvPr/>
        </p:nvSpPr>
        <p:spPr>
          <a:xfrm>
            <a:off x="1140170" y="1645285"/>
            <a:ext cx="16536333" cy="7458075"/>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Quicksand Bold"/>
                <a:ea typeface="Quicksand Bold"/>
                <a:cs typeface="Quicksand Bold"/>
                <a:sym typeface="Quicksand Bold"/>
              </a:rPr>
              <a:t>Để xây dựng hệ thống Quản lý Quán Cà Phê Sun Coffee, nhóm đã sử dụng các công nghệ sau: </a:t>
            </a:r>
          </a:p>
          <a:p>
            <a:pPr algn="l">
              <a:lnSpc>
                <a:spcPts val="4200"/>
              </a:lnSpc>
              <a:spcBef>
                <a:spcPct val="0"/>
              </a:spcBef>
            </a:pPr>
            <a:endParaRPr lang="en-US" sz="3000" b="1">
              <a:solidFill>
                <a:srgbClr val="000000"/>
              </a:solidFill>
              <a:latin typeface="Quicksand Bold"/>
              <a:ea typeface="Quicksand Bold"/>
              <a:cs typeface="Quicksand Bold"/>
              <a:sym typeface="Quicksand Bold"/>
            </a:endParaRPr>
          </a:p>
          <a:p>
            <a:pPr algn="l">
              <a:lnSpc>
                <a:spcPts val="4200"/>
              </a:lnSpc>
              <a:spcBef>
                <a:spcPct val="0"/>
              </a:spcBef>
            </a:pPr>
            <a:r>
              <a:rPr lang="en-US" sz="3000" b="1">
                <a:solidFill>
                  <a:srgbClr val="000000"/>
                </a:solidFill>
                <a:latin typeface="Quicksand Bold"/>
                <a:ea typeface="Quicksand Bold"/>
                <a:cs typeface="Quicksand Bold"/>
                <a:sym typeface="Quicksand Bold"/>
              </a:rPr>
              <a:t>+ Java Servlet: Xử lý các yêu cầu (Request/Response) từ người dùng, đóng vai trò Controller trong mô hình MVC. </a:t>
            </a:r>
          </a:p>
          <a:p>
            <a:pPr algn="l">
              <a:lnSpc>
                <a:spcPts val="4200"/>
              </a:lnSpc>
              <a:spcBef>
                <a:spcPct val="0"/>
              </a:spcBef>
            </a:pPr>
            <a:r>
              <a:rPr lang="en-US" sz="3000" b="1">
                <a:solidFill>
                  <a:srgbClr val="000000"/>
                </a:solidFill>
                <a:latin typeface="Quicksand Bold"/>
                <a:ea typeface="Quicksand Bold"/>
                <a:cs typeface="Quicksand Bold"/>
                <a:sym typeface="Quicksand Bold"/>
              </a:rPr>
              <a:t>+ JSP (Java Server Pages): Xây dựng giao diện người dùng và hiển thị dữ liệu động trên website.</a:t>
            </a:r>
          </a:p>
          <a:p>
            <a:pPr algn="l">
              <a:lnSpc>
                <a:spcPts val="4200"/>
              </a:lnSpc>
              <a:spcBef>
                <a:spcPct val="0"/>
              </a:spcBef>
            </a:pPr>
            <a:r>
              <a:rPr lang="en-US" sz="3000" b="1">
                <a:solidFill>
                  <a:srgbClr val="000000"/>
                </a:solidFill>
                <a:latin typeface="Quicksand Bold"/>
                <a:ea typeface="Quicksand Bold"/>
                <a:cs typeface="Quicksand Bold"/>
                <a:sym typeface="Quicksand Bold"/>
              </a:rPr>
              <a:t>+ JDBC (Java Database Connectivity): Kết nối và thao tác với cơ sở dữ liệu MySQL. </a:t>
            </a:r>
          </a:p>
          <a:p>
            <a:pPr algn="l">
              <a:lnSpc>
                <a:spcPts val="4200"/>
              </a:lnSpc>
              <a:spcBef>
                <a:spcPct val="0"/>
              </a:spcBef>
            </a:pPr>
            <a:r>
              <a:rPr lang="en-US" sz="3000" b="1">
                <a:solidFill>
                  <a:srgbClr val="000000"/>
                </a:solidFill>
                <a:latin typeface="Quicksand Bold"/>
                <a:ea typeface="Quicksand Bold"/>
                <a:cs typeface="Quicksand Bold"/>
                <a:sym typeface="Quicksand Bold"/>
              </a:rPr>
              <a:t>+ HTML, CSS, JavaScript: Thiết kế giao diện và xử lý các tương tác phía người dùng. </a:t>
            </a:r>
          </a:p>
          <a:p>
            <a:pPr algn="l">
              <a:lnSpc>
                <a:spcPts val="4200"/>
              </a:lnSpc>
              <a:spcBef>
                <a:spcPct val="0"/>
              </a:spcBef>
            </a:pPr>
            <a:r>
              <a:rPr lang="en-US" sz="3000" b="1">
                <a:solidFill>
                  <a:srgbClr val="000000"/>
                </a:solidFill>
                <a:latin typeface="Quicksand Bold"/>
                <a:ea typeface="Quicksand Bold"/>
                <a:cs typeface="Quicksand Bold"/>
                <a:sym typeface="Quicksand Bold"/>
              </a:rPr>
              <a:t>+ JSTL (JSP Standard Tag Library): Hỗ trợ xử lý dữ liệu và hiển thị thông tin trên trang JSP một cách thuận tiện. </a:t>
            </a:r>
          </a:p>
          <a:p>
            <a:pPr algn="l">
              <a:lnSpc>
                <a:spcPts val="4200"/>
              </a:lnSpc>
              <a:spcBef>
                <a:spcPct val="0"/>
              </a:spcBef>
            </a:pPr>
            <a:r>
              <a:rPr lang="en-US" sz="3000" b="1">
                <a:solidFill>
                  <a:srgbClr val="000000"/>
                </a:solidFill>
                <a:latin typeface="Quicksand Bold"/>
                <a:ea typeface="Quicksand Bold"/>
                <a:cs typeface="Quicksand Bold"/>
                <a:sym typeface="Quicksand Bold"/>
              </a:rPr>
              <a:t>+ MySQL: Hệ quản trị cơ sở dữ liệu dùng để lưu trữ và quản lý dữ liệu của hệ thống. </a:t>
            </a:r>
          </a:p>
          <a:p>
            <a:pPr algn="l">
              <a:lnSpc>
                <a:spcPts val="4200"/>
              </a:lnSpc>
              <a:spcBef>
                <a:spcPct val="0"/>
              </a:spcBef>
            </a:pPr>
            <a:r>
              <a:rPr lang="en-US" sz="3000" b="1">
                <a:solidFill>
                  <a:srgbClr val="000000"/>
                </a:solidFill>
                <a:latin typeface="Quicksand Bold"/>
                <a:ea typeface="Quicksand Bold"/>
                <a:cs typeface="Quicksand Bold"/>
                <a:sym typeface="Quicksand Bold"/>
              </a:rPr>
              <a:t>+ Apache Tomcat 9: Máy chủ ứng dụng dùng để triển khai và vận hành website Java Web. </a:t>
            </a:r>
          </a:p>
          <a:p>
            <a:pPr algn="l">
              <a:lnSpc>
                <a:spcPts val="4200"/>
              </a:lnSpc>
              <a:spcBef>
                <a:spcPct val="0"/>
              </a:spcBef>
            </a:pPr>
            <a:r>
              <a:rPr lang="en-US" sz="3000" b="1">
                <a:solidFill>
                  <a:srgbClr val="000000"/>
                </a:solidFill>
                <a:latin typeface="Quicksand Bold"/>
                <a:ea typeface="Quicksand Bold"/>
                <a:cs typeface="Quicksand Bold"/>
                <a:sym typeface="Quicksand Bold"/>
              </a:rPr>
              <a:t>+ Maven: Công cụ quản lý thư viện và tự động hóa quá trình xây dựng dự án.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1087672" y="250190"/>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IV. Chức năng chính</a:t>
            </a:r>
          </a:p>
        </p:txBody>
      </p:sp>
      <p:sp>
        <p:nvSpPr>
          <p:cNvPr id="4" name="TextBox 4"/>
          <p:cNvSpPr txBox="1"/>
          <p:nvPr/>
        </p:nvSpPr>
        <p:spPr>
          <a:xfrm>
            <a:off x="1624273" y="1204846"/>
            <a:ext cx="15485333" cy="8258175"/>
          </a:xfrm>
          <a:prstGeom prst="rect">
            <a:avLst/>
          </a:prstGeom>
        </p:spPr>
        <p:txBody>
          <a:bodyPr lIns="0" tIns="0" rIns="0" bIns="0" rtlCol="0" anchor="t">
            <a:spAutoFit/>
          </a:bodyPr>
          <a:lstStyle/>
          <a:p>
            <a:pPr algn="just">
              <a:lnSpc>
                <a:spcPts val="5100"/>
              </a:lnSpc>
              <a:spcBef>
                <a:spcPct val="0"/>
              </a:spcBef>
            </a:pPr>
            <a:r>
              <a:rPr lang="en-US" sz="3000">
                <a:solidFill>
                  <a:srgbClr val="000000"/>
                </a:solidFill>
                <a:latin typeface="DM Serif Display"/>
                <a:ea typeface="DM Serif Display"/>
                <a:cs typeface="DM Serif Display"/>
                <a:sym typeface="DM Serif Display"/>
              </a:rPr>
              <a:t>Giao diện hệ thống được thiết kế trực quan, dễ sử dụng, phù hợp với nghiệp vụ quản lý quán cà phê. Các màn hình chính bao gồm: </a:t>
            </a:r>
          </a:p>
          <a:p>
            <a:pPr marL="647700" lvl="1" indent="-323850" algn="l">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Trang đăng nhập</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Trang chủ (dashboard)</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Trang quản lý thực đơn</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Gọi món POS</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Quản lí đơn và hóa đơn</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Quản lí nhân viên</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Kho nguyên liệu</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Quản lí danh mục</a:t>
            </a:r>
          </a:p>
          <a:p>
            <a:pPr marL="647700" lvl="1" indent="-323850" algn="just">
              <a:lnSpc>
                <a:spcPts val="5100"/>
              </a:lnSpc>
              <a:spcBef>
                <a:spcPct val="0"/>
              </a:spcBef>
              <a:buFont typeface="Arial"/>
              <a:buChar char="•"/>
            </a:pPr>
            <a:r>
              <a:rPr lang="en-US" sz="3000">
                <a:solidFill>
                  <a:srgbClr val="000000"/>
                </a:solidFill>
                <a:latin typeface="DM Serif Display"/>
                <a:ea typeface="DM Serif Display"/>
                <a:cs typeface="DM Serif Display"/>
                <a:sym typeface="DM Serif Display"/>
              </a:rPr>
              <a:t>Thống kê doanh thu</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Các trang được bố trí hợp lý, đảm bảo thao tác nhanh chóng và thuận tiện cho người dùng.</a:t>
            </a:r>
          </a:p>
          <a:p>
            <a:pPr algn="just">
              <a:lnSpc>
                <a:spcPts val="4079"/>
              </a:lnSpc>
              <a:spcBef>
                <a:spcPct val="0"/>
              </a:spcBef>
            </a:pPr>
            <a:endParaRPr lang="en-US" sz="3000">
              <a:solidFill>
                <a:srgbClr val="000000"/>
              </a:solidFill>
              <a:latin typeface="DM Serif Display"/>
              <a:ea typeface="DM Serif Display"/>
              <a:cs typeface="DM Serif Display"/>
              <a:sym typeface="DM Serif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2130448" y="2440474"/>
            <a:ext cx="14180899" cy="6598057"/>
          </a:xfrm>
          <a:custGeom>
            <a:avLst/>
            <a:gdLst/>
            <a:ahLst/>
            <a:cxnLst/>
            <a:rect l="l" t="t" r="r" b="b"/>
            <a:pathLst>
              <a:path w="14180899" h="6598057">
                <a:moveTo>
                  <a:pt x="0" y="0"/>
                </a:moveTo>
                <a:lnTo>
                  <a:pt x="14180899" y="0"/>
                </a:lnTo>
                <a:lnTo>
                  <a:pt x="14180899" y="6598057"/>
                </a:lnTo>
                <a:lnTo>
                  <a:pt x="0" y="6598057"/>
                </a:lnTo>
                <a:lnTo>
                  <a:pt x="0" y="0"/>
                </a:lnTo>
                <a:close/>
              </a:path>
            </a:pathLst>
          </a:custGeom>
          <a:blipFill>
            <a:blip r:embed="rId3"/>
            <a:stretch>
              <a:fillRect/>
            </a:stretch>
          </a:blipFill>
        </p:spPr>
      </p:sp>
      <p:sp>
        <p:nvSpPr>
          <p:cNvPr id="4" name="TextBox 4"/>
          <p:cNvSpPr txBox="1"/>
          <p:nvPr/>
        </p:nvSpPr>
        <p:spPr>
          <a:xfrm>
            <a:off x="-1135445" y="250190"/>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V. Thiết kế Database</a:t>
            </a:r>
          </a:p>
        </p:txBody>
      </p:sp>
      <p:sp>
        <p:nvSpPr>
          <p:cNvPr id="5" name="TextBox 5"/>
          <p:cNvSpPr txBox="1"/>
          <p:nvPr/>
        </p:nvSpPr>
        <p:spPr>
          <a:xfrm>
            <a:off x="1630859" y="1364089"/>
            <a:ext cx="15026283" cy="1247775"/>
          </a:xfrm>
          <a:prstGeom prst="rect">
            <a:avLst/>
          </a:prstGeom>
        </p:spPr>
        <p:txBody>
          <a:bodyPr lIns="0" tIns="0" rIns="0" bIns="0" rtlCol="0" anchor="t">
            <a:spAutoFit/>
          </a:bodyPr>
          <a:lstStyle/>
          <a:p>
            <a:pPr algn="ctr">
              <a:lnSpc>
                <a:spcPts val="5100"/>
              </a:lnSpc>
              <a:spcBef>
                <a:spcPct val="0"/>
              </a:spcBef>
            </a:pPr>
            <a:r>
              <a:rPr lang="en-US" sz="3000">
                <a:solidFill>
                  <a:srgbClr val="000000"/>
                </a:solidFill>
                <a:latin typeface="DM Serif Display"/>
                <a:ea typeface="DM Serif Display"/>
                <a:cs typeface="DM Serif Display"/>
                <a:sym typeface="DM Serif Display"/>
              </a:rPr>
              <a:t>Hệ thống quản lý quán cà phê Sun Coffee sử dụng cơ sở dữ liệu MySQL gồm 7 bảng chính:</a:t>
            </a:r>
          </a:p>
          <a:p>
            <a:pPr algn="ctr">
              <a:lnSpc>
                <a:spcPts val="5100"/>
              </a:lnSpc>
              <a:spcBef>
                <a:spcPct val="0"/>
              </a:spcBef>
            </a:pPr>
            <a:endParaRPr lang="en-US" sz="3000">
              <a:solidFill>
                <a:srgbClr val="000000"/>
              </a:solidFill>
              <a:latin typeface="DM Serif Display"/>
              <a:ea typeface="DM Serif Display"/>
              <a:cs typeface="DM Serif Display"/>
              <a:sym typeface="DM Serif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1085602" y="3105181"/>
            <a:ext cx="7127175" cy="3365610"/>
          </a:xfrm>
          <a:custGeom>
            <a:avLst/>
            <a:gdLst/>
            <a:ahLst/>
            <a:cxnLst/>
            <a:rect l="l" t="t" r="r" b="b"/>
            <a:pathLst>
              <a:path w="7127175" h="3365610">
                <a:moveTo>
                  <a:pt x="0" y="0"/>
                </a:moveTo>
                <a:lnTo>
                  <a:pt x="7127175" y="0"/>
                </a:lnTo>
                <a:lnTo>
                  <a:pt x="7127175" y="3365610"/>
                </a:lnTo>
                <a:lnTo>
                  <a:pt x="0" y="3365610"/>
                </a:lnTo>
                <a:lnTo>
                  <a:pt x="0" y="0"/>
                </a:lnTo>
                <a:close/>
              </a:path>
            </a:pathLst>
          </a:custGeom>
          <a:blipFill>
            <a:blip r:embed="rId3"/>
            <a:stretch>
              <a:fillRect/>
            </a:stretch>
          </a:blipFill>
        </p:spPr>
      </p:sp>
      <p:sp>
        <p:nvSpPr>
          <p:cNvPr id="5" name="TextBox 5"/>
          <p:cNvSpPr txBox="1"/>
          <p:nvPr/>
        </p:nvSpPr>
        <p:spPr>
          <a:xfrm>
            <a:off x="-1103596" y="190500"/>
            <a:ext cx="9316373" cy="778510"/>
          </a:xfrm>
          <a:prstGeom prst="rect">
            <a:avLst/>
          </a:prstGeom>
        </p:spPr>
        <p:txBody>
          <a:bodyPr lIns="0" tIns="0" rIns="0" bIns="0" rtlCol="0" anchor="t">
            <a:spAutoFit/>
          </a:bodyPr>
          <a:lstStyle/>
          <a:p>
            <a:pPr algn="ctr">
              <a:lnSpc>
                <a:spcPts val="6439"/>
              </a:lnSpc>
            </a:pPr>
            <a:r>
              <a:rPr lang="en-US" sz="4599" dirty="0">
                <a:solidFill>
                  <a:srgbClr val="000000"/>
                </a:solidFill>
                <a:latin typeface="DM Serif Display"/>
                <a:ea typeface="DM Serif Display"/>
                <a:cs typeface="DM Serif Display"/>
                <a:sym typeface="DM Serif Display"/>
              </a:rPr>
              <a:t>VI. Giao </a:t>
            </a:r>
            <a:r>
              <a:rPr lang="en-US" sz="4599" dirty="0" err="1">
                <a:solidFill>
                  <a:srgbClr val="000000"/>
                </a:solidFill>
                <a:latin typeface="DM Serif Display"/>
                <a:ea typeface="DM Serif Display"/>
                <a:cs typeface="DM Serif Display"/>
                <a:sym typeface="DM Serif Display"/>
              </a:rPr>
              <a:t>diện</a:t>
            </a:r>
            <a:r>
              <a:rPr lang="en-US" sz="4599" dirty="0">
                <a:solidFill>
                  <a:srgbClr val="000000"/>
                </a:solidFill>
                <a:latin typeface="DM Serif Display"/>
                <a:ea typeface="DM Serif Display"/>
                <a:cs typeface="DM Serif Display"/>
                <a:sym typeface="DM Serif Display"/>
              </a:rPr>
              <a:t> demo</a:t>
            </a:r>
          </a:p>
        </p:txBody>
      </p:sp>
      <p:sp>
        <p:nvSpPr>
          <p:cNvPr id="6" name="TextBox 6"/>
          <p:cNvSpPr txBox="1"/>
          <p:nvPr/>
        </p:nvSpPr>
        <p:spPr>
          <a:xfrm>
            <a:off x="2904709" y="7157241"/>
            <a:ext cx="3280916"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1. Trang đăng nhập</a:t>
            </a:r>
          </a:p>
        </p:txBody>
      </p:sp>
      <p:sp>
        <p:nvSpPr>
          <p:cNvPr id="7" name="TextBox 7"/>
          <p:cNvSpPr txBox="1"/>
          <p:nvPr/>
        </p:nvSpPr>
        <p:spPr>
          <a:xfrm>
            <a:off x="12544888" y="7157241"/>
            <a:ext cx="3187601"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2. Trang Dasboard</a:t>
            </a:r>
          </a:p>
        </p:txBody>
      </p:sp>
      <p:pic>
        <p:nvPicPr>
          <p:cNvPr id="9" name="Picture 8" descr="A screenshot of a computer&#10;&#10;AI-generated content may be incorrect.">
            <a:extLst>
              <a:ext uri="{FF2B5EF4-FFF2-40B4-BE49-F238E27FC236}">
                <a16:creationId xmlns:a16="http://schemas.microsoft.com/office/drawing/2014/main" id="{C8B508BC-08F5-26E3-CBD7-9521D67893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79222" y="3129759"/>
            <a:ext cx="7123176" cy="3419274"/>
          </a:xfrm>
          <a:prstGeom prst="rect">
            <a:avLst/>
          </a:prstGeom>
        </p:spPr>
      </p:pic>
      <p:sp>
        <p:nvSpPr>
          <p:cNvPr id="10" name="TextBox 9">
            <a:extLst>
              <a:ext uri="{FF2B5EF4-FFF2-40B4-BE49-F238E27FC236}">
                <a16:creationId xmlns:a16="http://schemas.microsoft.com/office/drawing/2014/main" id="{8670E63E-3C0E-6CCE-6281-3C70C6EBEA07}"/>
              </a:ext>
            </a:extLst>
          </p:cNvPr>
          <p:cNvSpPr txBox="1"/>
          <p:nvPr/>
        </p:nvSpPr>
        <p:spPr>
          <a:xfrm>
            <a:off x="1600200" y="975266"/>
            <a:ext cx="7848600" cy="707886"/>
          </a:xfrm>
          <a:prstGeom prst="rect">
            <a:avLst/>
          </a:prstGeom>
          <a:noFill/>
        </p:spPr>
        <p:txBody>
          <a:bodyPr wrap="square" rtlCol="0">
            <a:spAutoFit/>
          </a:bodyPr>
          <a:lstStyle/>
          <a:p>
            <a:r>
              <a:rPr lang="en-US" sz="4000" dirty="0">
                <a:solidFill>
                  <a:srgbClr val="000000"/>
                </a:solidFill>
                <a:latin typeface="DM Serif Display"/>
                <a:ea typeface="DM Serif Display"/>
                <a:cs typeface="DM Serif Display"/>
                <a:sym typeface="DM Serif Display"/>
              </a:rPr>
              <a:t>1.  </a:t>
            </a:r>
            <a:r>
              <a:rPr lang="en-US" sz="4000" dirty="0" err="1">
                <a:solidFill>
                  <a:srgbClr val="000000"/>
                </a:solidFill>
                <a:latin typeface="DM Serif Display"/>
                <a:ea typeface="DM Serif Display"/>
                <a:cs typeface="DM Serif Display"/>
                <a:sym typeface="DM Serif Display"/>
              </a:rPr>
              <a:t>Tài</a:t>
            </a:r>
            <a:r>
              <a:rPr lang="en-US" sz="4000" dirty="0">
                <a:solidFill>
                  <a:srgbClr val="000000"/>
                </a:solidFill>
                <a:latin typeface="DM Serif Display"/>
                <a:ea typeface="DM Serif Display"/>
                <a:cs typeface="DM Serif Display"/>
                <a:sym typeface="DM Serif Display"/>
              </a:rPr>
              <a:t> </a:t>
            </a:r>
            <a:r>
              <a:rPr lang="en-US" sz="4000" dirty="0" err="1">
                <a:solidFill>
                  <a:srgbClr val="000000"/>
                </a:solidFill>
                <a:latin typeface="DM Serif Display"/>
                <a:ea typeface="DM Serif Display"/>
                <a:cs typeface="DM Serif Display"/>
                <a:sym typeface="DM Serif Display"/>
              </a:rPr>
              <a:t>khoản</a:t>
            </a:r>
            <a:r>
              <a:rPr lang="en-US" sz="4000" dirty="0">
                <a:solidFill>
                  <a:srgbClr val="000000"/>
                </a:solidFill>
                <a:latin typeface="DM Serif Display"/>
                <a:ea typeface="DM Serif Display"/>
                <a:cs typeface="DM Serif Display"/>
                <a:sym typeface="DM Serif Display"/>
              </a:rPr>
              <a:t> Admin(</a:t>
            </a:r>
            <a:r>
              <a:rPr lang="en-US" sz="4000" dirty="0" err="1">
                <a:solidFill>
                  <a:srgbClr val="000000"/>
                </a:solidFill>
                <a:latin typeface="DM Serif Display"/>
                <a:ea typeface="DM Serif Display"/>
                <a:cs typeface="DM Serif Display"/>
                <a:sym typeface="DM Serif Display"/>
              </a:rPr>
              <a:t>Quản</a:t>
            </a:r>
            <a:r>
              <a:rPr lang="en-US" sz="4000" dirty="0">
                <a:solidFill>
                  <a:srgbClr val="000000"/>
                </a:solidFill>
                <a:latin typeface="DM Serif Display"/>
                <a:ea typeface="DM Serif Display"/>
                <a:cs typeface="DM Serif Display"/>
                <a:sym typeface="DM Serif Display"/>
              </a:rPr>
              <a:t> </a:t>
            </a:r>
            <a:r>
              <a:rPr lang="en-US" sz="4000" dirty="0" err="1">
                <a:solidFill>
                  <a:srgbClr val="000000"/>
                </a:solidFill>
                <a:latin typeface="DM Serif Display"/>
                <a:ea typeface="DM Serif Display"/>
                <a:cs typeface="DM Serif Display"/>
                <a:sym typeface="DM Serif Display"/>
              </a:rPr>
              <a:t>Trị</a:t>
            </a:r>
            <a:r>
              <a:rPr lang="en-US" sz="4000" dirty="0">
                <a:solidFill>
                  <a:srgbClr val="000000"/>
                </a:solidFill>
                <a:latin typeface="DM Serif Display"/>
                <a:ea typeface="DM Serif Display"/>
                <a:cs typeface="DM Serif Display"/>
                <a:sym typeface="DM Serif Display"/>
              </a:rPr>
              <a:t>):</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1838365" y="517096"/>
            <a:ext cx="6269138" cy="3624346"/>
          </a:xfrm>
          <a:custGeom>
            <a:avLst/>
            <a:gdLst/>
            <a:ahLst/>
            <a:cxnLst/>
            <a:rect l="l" t="t" r="r" b="b"/>
            <a:pathLst>
              <a:path w="6269138" h="3624346">
                <a:moveTo>
                  <a:pt x="0" y="0"/>
                </a:moveTo>
                <a:lnTo>
                  <a:pt x="6269139" y="0"/>
                </a:lnTo>
                <a:lnTo>
                  <a:pt x="6269139" y="3624346"/>
                </a:lnTo>
                <a:lnTo>
                  <a:pt x="0" y="3624346"/>
                </a:lnTo>
                <a:lnTo>
                  <a:pt x="0" y="0"/>
                </a:lnTo>
                <a:close/>
              </a:path>
            </a:pathLst>
          </a:custGeom>
          <a:blipFill>
            <a:blip r:embed="rId3"/>
            <a:stretch>
              <a:fillRect/>
            </a:stretch>
          </a:blipFill>
        </p:spPr>
      </p:sp>
      <p:sp>
        <p:nvSpPr>
          <p:cNvPr id="4" name="Freeform 4"/>
          <p:cNvSpPr/>
          <p:nvPr/>
        </p:nvSpPr>
        <p:spPr>
          <a:xfrm>
            <a:off x="9843247" y="517096"/>
            <a:ext cx="6889845" cy="3624346"/>
          </a:xfrm>
          <a:custGeom>
            <a:avLst/>
            <a:gdLst/>
            <a:ahLst/>
            <a:cxnLst/>
            <a:rect l="l" t="t" r="r" b="b"/>
            <a:pathLst>
              <a:path w="6889845" h="3624346">
                <a:moveTo>
                  <a:pt x="0" y="0"/>
                </a:moveTo>
                <a:lnTo>
                  <a:pt x="6889845" y="0"/>
                </a:lnTo>
                <a:lnTo>
                  <a:pt x="6889845" y="3624346"/>
                </a:lnTo>
                <a:lnTo>
                  <a:pt x="0" y="3624346"/>
                </a:lnTo>
                <a:lnTo>
                  <a:pt x="0" y="0"/>
                </a:lnTo>
                <a:close/>
              </a:path>
            </a:pathLst>
          </a:custGeom>
          <a:blipFill>
            <a:blip r:embed="rId4"/>
            <a:stretch>
              <a:fillRect/>
            </a:stretch>
          </a:blipFill>
        </p:spPr>
      </p:sp>
      <p:sp>
        <p:nvSpPr>
          <p:cNvPr id="5" name="Freeform 5"/>
          <p:cNvSpPr/>
          <p:nvPr/>
        </p:nvSpPr>
        <p:spPr>
          <a:xfrm>
            <a:off x="1972626" y="5319836"/>
            <a:ext cx="6134878" cy="3472170"/>
          </a:xfrm>
          <a:custGeom>
            <a:avLst/>
            <a:gdLst/>
            <a:ahLst/>
            <a:cxnLst/>
            <a:rect l="l" t="t" r="r" b="b"/>
            <a:pathLst>
              <a:path w="6134878" h="3472170">
                <a:moveTo>
                  <a:pt x="0" y="0"/>
                </a:moveTo>
                <a:lnTo>
                  <a:pt x="6134878" y="0"/>
                </a:lnTo>
                <a:lnTo>
                  <a:pt x="6134878" y="3472171"/>
                </a:lnTo>
                <a:lnTo>
                  <a:pt x="0" y="3472171"/>
                </a:lnTo>
                <a:lnTo>
                  <a:pt x="0" y="0"/>
                </a:lnTo>
                <a:close/>
              </a:path>
            </a:pathLst>
          </a:custGeom>
          <a:blipFill>
            <a:blip r:embed="rId5"/>
            <a:stretch>
              <a:fillRect/>
            </a:stretch>
          </a:blipFill>
        </p:spPr>
      </p:sp>
      <p:sp>
        <p:nvSpPr>
          <p:cNvPr id="6" name="Freeform 6"/>
          <p:cNvSpPr/>
          <p:nvPr/>
        </p:nvSpPr>
        <p:spPr>
          <a:xfrm>
            <a:off x="10273201" y="5243749"/>
            <a:ext cx="6326131" cy="3624346"/>
          </a:xfrm>
          <a:custGeom>
            <a:avLst/>
            <a:gdLst/>
            <a:ahLst/>
            <a:cxnLst/>
            <a:rect l="l" t="t" r="r" b="b"/>
            <a:pathLst>
              <a:path w="6326131" h="3624346">
                <a:moveTo>
                  <a:pt x="0" y="0"/>
                </a:moveTo>
                <a:lnTo>
                  <a:pt x="6326131" y="0"/>
                </a:lnTo>
                <a:lnTo>
                  <a:pt x="6326131" y="3624345"/>
                </a:lnTo>
                <a:lnTo>
                  <a:pt x="0" y="3624345"/>
                </a:lnTo>
                <a:lnTo>
                  <a:pt x="0" y="0"/>
                </a:lnTo>
                <a:close/>
              </a:path>
            </a:pathLst>
          </a:custGeom>
          <a:blipFill>
            <a:blip r:embed="rId6"/>
            <a:stretch>
              <a:fillRect/>
            </a:stretch>
          </a:blipFill>
        </p:spPr>
      </p:sp>
      <p:sp>
        <p:nvSpPr>
          <p:cNvPr id="7" name="TextBox 7"/>
          <p:cNvSpPr txBox="1"/>
          <p:nvPr/>
        </p:nvSpPr>
        <p:spPr>
          <a:xfrm>
            <a:off x="3316329" y="4290876"/>
            <a:ext cx="3313212"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3. Quản lí thực đơn</a:t>
            </a:r>
          </a:p>
        </p:txBody>
      </p:sp>
      <p:sp>
        <p:nvSpPr>
          <p:cNvPr id="8" name="TextBox 8"/>
          <p:cNvSpPr txBox="1"/>
          <p:nvPr/>
        </p:nvSpPr>
        <p:spPr>
          <a:xfrm>
            <a:off x="12113097" y="4290876"/>
            <a:ext cx="2350145"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4.Trang POS</a:t>
            </a:r>
          </a:p>
        </p:txBody>
      </p:sp>
      <p:sp>
        <p:nvSpPr>
          <p:cNvPr id="9" name="TextBox 9"/>
          <p:cNvSpPr txBox="1"/>
          <p:nvPr/>
        </p:nvSpPr>
        <p:spPr>
          <a:xfrm>
            <a:off x="3038344" y="9115923"/>
            <a:ext cx="4153644"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5. Quản lí đơn và hóa đơn</a:t>
            </a:r>
          </a:p>
        </p:txBody>
      </p:sp>
      <p:sp>
        <p:nvSpPr>
          <p:cNvPr id="10" name="TextBox 10"/>
          <p:cNvSpPr txBox="1"/>
          <p:nvPr/>
        </p:nvSpPr>
        <p:spPr>
          <a:xfrm>
            <a:off x="12145086" y="9020377"/>
            <a:ext cx="3393132"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6. Quản lí nhân viên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1657982" y="647048"/>
            <a:ext cx="6718839" cy="3837670"/>
          </a:xfrm>
          <a:custGeom>
            <a:avLst/>
            <a:gdLst/>
            <a:ahLst/>
            <a:cxnLst/>
            <a:rect l="l" t="t" r="r" b="b"/>
            <a:pathLst>
              <a:path w="6718839" h="3837670">
                <a:moveTo>
                  <a:pt x="0" y="0"/>
                </a:moveTo>
                <a:lnTo>
                  <a:pt x="6718839" y="0"/>
                </a:lnTo>
                <a:lnTo>
                  <a:pt x="6718839" y="3837670"/>
                </a:lnTo>
                <a:lnTo>
                  <a:pt x="0" y="3837670"/>
                </a:lnTo>
                <a:lnTo>
                  <a:pt x="0" y="0"/>
                </a:lnTo>
                <a:close/>
              </a:path>
            </a:pathLst>
          </a:custGeom>
          <a:blipFill>
            <a:blip r:embed="rId3"/>
            <a:stretch>
              <a:fillRect/>
            </a:stretch>
          </a:blipFill>
        </p:spPr>
      </p:sp>
      <p:sp>
        <p:nvSpPr>
          <p:cNvPr id="4" name="Freeform 4"/>
          <p:cNvSpPr/>
          <p:nvPr/>
        </p:nvSpPr>
        <p:spPr>
          <a:xfrm>
            <a:off x="10040258" y="631124"/>
            <a:ext cx="6560713" cy="3893295"/>
          </a:xfrm>
          <a:custGeom>
            <a:avLst/>
            <a:gdLst/>
            <a:ahLst/>
            <a:cxnLst/>
            <a:rect l="l" t="t" r="r" b="b"/>
            <a:pathLst>
              <a:path w="6560713" h="3893295">
                <a:moveTo>
                  <a:pt x="0" y="0"/>
                </a:moveTo>
                <a:lnTo>
                  <a:pt x="6560713" y="0"/>
                </a:lnTo>
                <a:lnTo>
                  <a:pt x="6560713" y="3893295"/>
                </a:lnTo>
                <a:lnTo>
                  <a:pt x="0" y="3893295"/>
                </a:lnTo>
                <a:lnTo>
                  <a:pt x="0" y="0"/>
                </a:lnTo>
                <a:close/>
              </a:path>
            </a:pathLst>
          </a:custGeom>
          <a:blipFill>
            <a:blip r:embed="rId4"/>
            <a:stretch>
              <a:fillRect/>
            </a:stretch>
          </a:blipFill>
        </p:spPr>
      </p:sp>
      <p:sp>
        <p:nvSpPr>
          <p:cNvPr id="5" name="Freeform 5"/>
          <p:cNvSpPr/>
          <p:nvPr/>
        </p:nvSpPr>
        <p:spPr>
          <a:xfrm>
            <a:off x="5527574" y="5468045"/>
            <a:ext cx="6750208" cy="3397986"/>
          </a:xfrm>
          <a:custGeom>
            <a:avLst/>
            <a:gdLst/>
            <a:ahLst/>
            <a:cxnLst/>
            <a:rect l="l" t="t" r="r" b="b"/>
            <a:pathLst>
              <a:path w="6750208" h="3397986">
                <a:moveTo>
                  <a:pt x="0" y="0"/>
                </a:moveTo>
                <a:lnTo>
                  <a:pt x="6750207" y="0"/>
                </a:lnTo>
                <a:lnTo>
                  <a:pt x="6750207" y="3397986"/>
                </a:lnTo>
                <a:lnTo>
                  <a:pt x="0" y="3397986"/>
                </a:lnTo>
                <a:lnTo>
                  <a:pt x="0" y="0"/>
                </a:lnTo>
                <a:close/>
              </a:path>
            </a:pathLst>
          </a:custGeom>
          <a:blipFill>
            <a:blip r:embed="rId5"/>
            <a:stretch>
              <a:fillRect/>
            </a:stretch>
          </a:blipFill>
        </p:spPr>
      </p:sp>
      <p:sp>
        <p:nvSpPr>
          <p:cNvPr id="6" name="TextBox 6"/>
          <p:cNvSpPr txBox="1"/>
          <p:nvPr/>
        </p:nvSpPr>
        <p:spPr>
          <a:xfrm>
            <a:off x="3081440" y="4762795"/>
            <a:ext cx="3207544"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7. Kho nguyên liệu</a:t>
            </a:r>
          </a:p>
        </p:txBody>
      </p:sp>
      <p:sp>
        <p:nvSpPr>
          <p:cNvPr id="7" name="TextBox 7"/>
          <p:cNvSpPr txBox="1"/>
          <p:nvPr/>
        </p:nvSpPr>
        <p:spPr>
          <a:xfrm>
            <a:off x="12025728" y="4696520"/>
            <a:ext cx="3408908"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8. Quản lí danh mục</a:t>
            </a:r>
          </a:p>
        </p:txBody>
      </p:sp>
      <p:sp>
        <p:nvSpPr>
          <p:cNvPr id="8" name="TextBox 8"/>
          <p:cNvSpPr txBox="1"/>
          <p:nvPr/>
        </p:nvSpPr>
        <p:spPr>
          <a:xfrm>
            <a:off x="6928569" y="9057182"/>
            <a:ext cx="3439120" cy="476250"/>
          </a:xfrm>
          <a:prstGeom prst="rect">
            <a:avLst/>
          </a:prstGeom>
        </p:spPr>
        <p:txBody>
          <a:bodyPr lIns="0" tIns="0" rIns="0" bIns="0" rtlCol="0" anchor="t">
            <a:spAutoFit/>
          </a:bodyPr>
          <a:lstStyle/>
          <a:p>
            <a:pPr algn="ctr">
              <a:lnSpc>
                <a:spcPts val="4079"/>
              </a:lnSpc>
              <a:spcBef>
                <a:spcPct val="0"/>
              </a:spcBef>
            </a:pPr>
            <a:r>
              <a:rPr lang="en-US" sz="2400">
                <a:solidFill>
                  <a:srgbClr val="000000"/>
                </a:solidFill>
                <a:latin typeface="DM Serif Display"/>
                <a:ea typeface="DM Serif Display"/>
                <a:cs typeface="DM Serif Display"/>
                <a:sym typeface="DM Serif Display"/>
              </a:rPr>
              <a:t>Hình 9. Quản lí doanh thu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8" name="TextBox 8"/>
          <p:cNvSpPr txBox="1"/>
          <p:nvPr/>
        </p:nvSpPr>
        <p:spPr>
          <a:xfrm>
            <a:off x="7239000" y="7234391"/>
            <a:ext cx="3439120" cy="484556"/>
          </a:xfrm>
          <a:prstGeom prst="rect">
            <a:avLst/>
          </a:prstGeom>
        </p:spPr>
        <p:txBody>
          <a:bodyPr lIns="0" tIns="0" rIns="0" bIns="0" rtlCol="0" anchor="t">
            <a:spAutoFit/>
          </a:bodyPr>
          <a:lstStyle/>
          <a:p>
            <a:pPr algn="ctr">
              <a:lnSpc>
                <a:spcPts val="4079"/>
              </a:lnSpc>
              <a:spcBef>
                <a:spcPct val="0"/>
              </a:spcBef>
            </a:pPr>
            <a:r>
              <a:rPr lang="en-US" sz="2400" dirty="0" err="1">
                <a:solidFill>
                  <a:srgbClr val="000000"/>
                </a:solidFill>
                <a:latin typeface="DM Serif Display"/>
                <a:ea typeface="DM Serif Display"/>
                <a:cs typeface="DM Serif Display"/>
                <a:sym typeface="DM Serif Display"/>
              </a:rPr>
              <a:t>Hình</a:t>
            </a:r>
            <a:r>
              <a:rPr lang="en-US" sz="2400" dirty="0">
                <a:solidFill>
                  <a:srgbClr val="000000"/>
                </a:solidFill>
                <a:latin typeface="DM Serif Display"/>
                <a:ea typeface="DM Serif Display"/>
                <a:cs typeface="DM Serif Display"/>
                <a:sym typeface="DM Serif Display"/>
              </a:rPr>
              <a:t> 1. </a:t>
            </a:r>
            <a:r>
              <a:rPr lang="en-US" sz="2400" dirty="0" err="1">
                <a:solidFill>
                  <a:srgbClr val="000000"/>
                </a:solidFill>
                <a:latin typeface="DM Serif Display"/>
                <a:ea typeface="DM Serif Display"/>
                <a:cs typeface="DM Serif Display"/>
                <a:sym typeface="DM Serif Display"/>
              </a:rPr>
              <a:t>Gọi</a:t>
            </a:r>
            <a:r>
              <a:rPr lang="en-US" sz="2400" dirty="0">
                <a:solidFill>
                  <a:srgbClr val="000000"/>
                </a:solidFill>
                <a:latin typeface="DM Serif Display"/>
                <a:ea typeface="DM Serif Display"/>
                <a:cs typeface="DM Serif Display"/>
                <a:sym typeface="DM Serif Display"/>
              </a:rPr>
              <a:t> </a:t>
            </a:r>
            <a:r>
              <a:rPr lang="en-US" sz="2400" dirty="0" err="1">
                <a:solidFill>
                  <a:srgbClr val="000000"/>
                </a:solidFill>
                <a:latin typeface="DM Serif Display"/>
                <a:ea typeface="DM Serif Display"/>
                <a:cs typeface="DM Serif Display"/>
                <a:sym typeface="DM Serif Display"/>
              </a:rPr>
              <a:t>món</a:t>
            </a:r>
            <a:r>
              <a:rPr lang="en-US" sz="2400" dirty="0">
                <a:solidFill>
                  <a:srgbClr val="000000"/>
                </a:solidFill>
                <a:latin typeface="DM Serif Display"/>
                <a:ea typeface="DM Serif Display"/>
                <a:cs typeface="DM Serif Display"/>
                <a:sym typeface="DM Serif Display"/>
              </a:rPr>
              <a:t> POS</a:t>
            </a:r>
          </a:p>
        </p:txBody>
      </p:sp>
      <p:sp>
        <p:nvSpPr>
          <p:cNvPr id="9" name="TextBox 8">
            <a:extLst>
              <a:ext uri="{FF2B5EF4-FFF2-40B4-BE49-F238E27FC236}">
                <a16:creationId xmlns:a16="http://schemas.microsoft.com/office/drawing/2014/main" id="{E24CB3EF-088C-D4EA-E370-BFBE8390F010}"/>
              </a:ext>
            </a:extLst>
          </p:cNvPr>
          <p:cNvSpPr txBox="1"/>
          <p:nvPr/>
        </p:nvSpPr>
        <p:spPr>
          <a:xfrm>
            <a:off x="1600200" y="975266"/>
            <a:ext cx="7543800" cy="707886"/>
          </a:xfrm>
          <a:prstGeom prst="rect">
            <a:avLst/>
          </a:prstGeom>
          <a:noFill/>
        </p:spPr>
        <p:txBody>
          <a:bodyPr wrap="square" rtlCol="0">
            <a:spAutoFit/>
          </a:bodyPr>
          <a:lstStyle/>
          <a:p>
            <a:r>
              <a:rPr lang="en-US" sz="4000" dirty="0">
                <a:solidFill>
                  <a:srgbClr val="000000"/>
                </a:solidFill>
                <a:latin typeface="DM Serif Display"/>
                <a:ea typeface="DM Serif Display"/>
                <a:cs typeface="DM Serif Display"/>
                <a:sym typeface="DM Serif Display"/>
              </a:rPr>
              <a:t>2.  </a:t>
            </a:r>
            <a:r>
              <a:rPr lang="en-US" sz="4000" dirty="0" err="1">
                <a:solidFill>
                  <a:srgbClr val="000000"/>
                </a:solidFill>
                <a:latin typeface="DM Serif Display"/>
                <a:ea typeface="DM Serif Display"/>
                <a:cs typeface="DM Serif Display"/>
                <a:sym typeface="DM Serif Display"/>
              </a:rPr>
              <a:t>Tài</a:t>
            </a:r>
            <a:r>
              <a:rPr lang="en-US" sz="4000" dirty="0">
                <a:solidFill>
                  <a:srgbClr val="000000"/>
                </a:solidFill>
                <a:latin typeface="DM Serif Display"/>
                <a:ea typeface="DM Serif Display"/>
                <a:cs typeface="DM Serif Display"/>
                <a:sym typeface="DM Serif Display"/>
              </a:rPr>
              <a:t> </a:t>
            </a:r>
            <a:r>
              <a:rPr lang="en-US" sz="4000" dirty="0" err="1">
                <a:solidFill>
                  <a:srgbClr val="000000"/>
                </a:solidFill>
                <a:latin typeface="DM Serif Display"/>
                <a:ea typeface="DM Serif Display"/>
                <a:cs typeface="DM Serif Display"/>
                <a:sym typeface="DM Serif Display"/>
              </a:rPr>
              <a:t>khoản</a:t>
            </a:r>
            <a:r>
              <a:rPr lang="en-US" sz="4000" dirty="0">
                <a:solidFill>
                  <a:srgbClr val="000000"/>
                </a:solidFill>
                <a:latin typeface="DM Serif Display"/>
                <a:ea typeface="DM Serif Display"/>
                <a:cs typeface="DM Serif Display"/>
                <a:sym typeface="DM Serif Display"/>
              </a:rPr>
              <a:t> Staff(Thu </a:t>
            </a:r>
            <a:r>
              <a:rPr lang="en-US" sz="4000" dirty="0" err="1">
                <a:solidFill>
                  <a:srgbClr val="000000"/>
                </a:solidFill>
                <a:latin typeface="DM Serif Display"/>
                <a:ea typeface="DM Serif Display"/>
                <a:cs typeface="DM Serif Display"/>
                <a:sym typeface="DM Serif Display"/>
              </a:rPr>
              <a:t>Ngân</a:t>
            </a:r>
            <a:r>
              <a:rPr lang="en-US" sz="4000" dirty="0">
                <a:solidFill>
                  <a:srgbClr val="000000"/>
                </a:solidFill>
                <a:latin typeface="DM Serif Display"/>
                <a:ea typeface="DM Serif Display"/>
                <a:cs typeface="DM Serif Display"/>
                <a:sym typeface="DM Serif Display"/>
              </a:rPr>
              <a:t>):</a:t>
            </a:r>
            <a:endParaRPr lang="en-US" sz="4000" dirty="0"/>
          </a:p>
        </p:txBody>
      </p:sp>
      <p:pic>
        <p:nvPicPr>
          <p:cNvPr id="11" name="Picture 10" descr="A screenshot of a computer&#10;&#10;AI-generated content may be incorrect.">
            <a:extLst>
              <a:ext uri="{FF2B5EF4-FFF2-40B4-BE49-F238E27FC236}">
                <a16:creationId xmlns:a16="http://schemas.microsoft.com/office/drawing/2014/main" id="{91FA0B12-C68B-D9FD-0949-1647702C00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2305050"/>
            <a:ext cx="9601200" cy="4545568"/>
          </a:xfrm>
          <a:prstGeom prst="rect">
            <a:avLst/>
          </a:prstGeom>
        </p:spPr>
      </p:pic>
    </p:spTree>
    <p:extLst>
      <p:ext uri="{BB962C8B-B14F-4D97-AF65-F5344CB8AC3E}">
        <p14:creationId xmlns:p14="http://schemas.microsoft.com/office/powerpoint/2010/main" val="1312085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4430650" y="1214898"/>
            <a:ext cx="8638196" cy="8745917"/>
          </a:xfrm>
          <a:custGeom>
            <a:avLst/>
            <a:gdLst/>
            <a:ahLst/>
            <a:cxnLst/>
            <a:rect l="l" t="t" r="r" b="b"/>
            <a:pathLst>
              <a:path w="8638196" h="8745917">
                <a:moveTo>
                  <a:pt x="0" y="0"/>
                </a:moveTo>
                <a:lnTo>
                  <a:pt x="8638196" y="0"/>
                </a:lnTo>
                <a:lnTo>
                  <a:pt x="8638196" y="8745917"/>
                </a:lnTo>
                <a:lnTo>
                  <a:pt x="0" y="8745917"/>
                </a:lnTo>
                <a:lnTo>
                  <a:pt x="0" y="0"/>
                </a:lnTo>
                <a:close/>
              </a:path>
            </a:pathLst>
          </a:custGeom>
          <a:blipFill>
            <a:blip r:embed="rId3"/>
            <a:stretch>
              <a:fillRect r="-843"/>
            </a:stretch>
          </a:blipFill>
        </p:spPr>
      </p:sp>
      <p:sp>
        <p:nvSpPr>
          <p:cNvPr id="4" name="TextBox 4"/>
          <p:cNvSpPr txBox="1"/>
          <p:nvPr/>
        </p:nvSpPr>
        <p:spPr>
          <a:xfrm>
            <a:off x="-641793" y="236058"/>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VII. Phân công công việc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928430" y="250190"/>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VIII. Kết quả đạt được</a:t>
            </a:r>
          </a:p>
        </p:txBody>
      </p:sp>
      <p:sp>
        <p:nvSpPr>
          <p:cNvPr id="4" name="TextBox 4"/>
          <p:cNvSpPr txBox="1"/>
          <p:nvPr/>
        </p:nvSpPr>
        <p:spPr>
          <a:xfrm>
            <a:off x="1194318" y="1660568"/>
            <a:ext cx="16297469" cy="37147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DM Serif Display"/>
                <a:ea typeface="DM Serif Display"/>
                <a:cs typeface="DM Serif Display"/>
                <a:sym typeface="DM Serif Display"/>
              </a:rPr>
              <a:t>Sau quá trình phân tích, thiết kế và triển khai, nhóm đã xây dựng thành công hệ thống Quản lý Quán Cà Phê Sun Coffee với các chức năng chính như: đăng nhập và phân quyền người dùng (Admin, Staff), quản lý danh mục sản phẩm, quản lý sản phẩm (thêm, sửa, xóa, tìm kiếm), quản lý đơn hàng và hóa đơn bán hàng, tính toán tổng tiền và giảm giá, quản lý nhân viên, quản lý kho nguyên liệu, thống kê doanh thu, tìm kiếm dữ liệu và kết nối cơ sở dữ liệu MySQL thông qua JDBC. Hệ thống được xây dựng theo mô hình MVC với giao diện JSP kết hợp Bootstrap giúp tăng khả năng quản lý và bảo trì. </a:t>
            </a:r>
          </a:p>
        </p:txBody>
      </p:sp>
      <p:sp>
        <p:nvSpPr>
          <p:cNvPr id="5" name="TextBox 5"/>
          <p:cNvSpPr txBox="1"/>
          <p:nvPr/>
        </p:nvSpPr>
        <p:spPr>
          <a:xfrm>
            <a:off x="1194318" y="6003968"/>
            <a:ext cx="16631879" cy="21145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DM Serif Display"/>
                <a:ea typeface="DM Serif Display"/>
                <a:cs typeface="DM Serif Display"/>
                <a:sym typeface="DM Serif Display"/>
              </a:rPr>
              <a:t>Thông qua quá trình thực hiện, các thành viên trong nhóm đã hiểu rõ hơn về quy trình xây dựng một ứng dụng Web từ khâu phân tích yêu cầu, thiết kế cơ sở dữ liệu, xây dựng giao diện đến xử lý nghiệp vụ và kết nối cơ sở dữ liệu. Đề tài giúp nhóm củng cố kiến thức chuyên ngành và nâng cao kỹ năng làm việc nhóm trong quá trình phát triển dự án.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297737" y="443073"/>
            <a:ext cx="9316373" cy="778510"/>
          </a:xfrm>
          <a:prstGeom prst="rect">
            <a:avLst/>
          </a:prstGeom>
        </p:spPr>
        <p:txBody>
          <a:bodyPr lIns="0" tIns="0" rIns="0" bIns="0" rtlCol="0" anchor="t">
            <a:spAutoFit/>
          </a:bodyPr>
          <a:lstStyle/>
          <a:p>
            <a:pPr algn="ctr">
              <a:lnSpc>
                <a:spcPts val="6439"/>
              </a:lnSpc>
            </a:pPr>
            <a:r>
              <a:rPr lang="en-US" sz="4599">
                <a:solidFill>
                  <a:srgbClr val="000000"/>
                </a:solidFill>
                <a:latin typeface="DM Serif Display"/>
                <a:ea typeface="DM Serif Display"/>
                <a:cs typeface="DM Serif Display"/>
                <a:sym typeface="DM Serif Display"/>
              </a:rPr>
              <a:t>IX.Hạn chế và hướng phát triển</a:t>
            </a:r>
          </a:p>
        </p:txBody>
      </p:sp>
      <p:sp>
        <p:nvSpPr>
          <p:cNvPr id="4" name="TextBox 4"/>
          <p:cNvSpPr txBox="1"/>
          <p:nvPr/>
        </p:nvSpPr>
        <p:spPr>
          <a:xfrm>
            <a:off x="1446834" y="1848533"/>
            <a:ext cx="2240905" cy="64643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DM Serif Display"/>
                <a:ea typeface="DM Serif Display"/>
                <a:cs typeface="DM Serif Display"/>
                <a:sym typeface="DM Serif Display"/>
              </a:rPr>
              <a:t>a. Hạn chế</a:t>
            </a:r>
          </a:p>
        </p:txBody>
      </p:sp>
      <p:sp>
        <p:nvSpPr>
          <p:cNvPr id="5" name="TextBox 5"/>
          <p:cNvSpPr txBox="1"/>
          <p:nvPr/>
        </p:nvSpPr>
        <p:spPr>
          <a:xfrm>
            <a:off x="1831633" y="3142663"/>
            <a:ext cx="15996644" cy="4771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DM Serif Display"/>
                <a:ea typeface="DM Serif Display"/>
                <a:cs typeface="DM Serif Display"/>
                <a:sym typeface="DM Serif Display"/>
              </a:rPr>
              <a:t>Bên cạnh những kết quả đạt được, hệ thống vẫn còn một số hạn chế như : </a:t>
            </a:r>
          </a:p>
          <a:p>
            <a:pPr algn="l">
              <a:lnSpc>
                <a:spcPts val="4759"/>
              </a:lnSpc>
              <a:spcBef>
                <a:spcPct val="0"/>
              </a:spcBef>
            </a:pPr>
            <a:endParaRPr lang="en-US" sz="3399">
              <a:solidFill>
                <a:srgbClr val="000000"/>
              </a:solidFill>
              <a:latin typeface="DM Serif Display"/>
              <a:ea typeface="DM Serif Display"/>
              <a:cs typeface="DM Serif Display"/>
              <a:sym typeface="DM Serif Display"/>
            </a:endParaRPr>
          </a:p>
          <a:p>
            <a:pPr marL="734059" lvl="1" indent="-367030" algn="l">
              <a:lnSpc>
                <a:spcPts val="4759"/>
              </a:lnSpc>
              <a:spcBef>
                <a:spcPct val="0"/>
              </a:spcBef>
              <a:buFont typeface="Arial"/>
              <a:buChar char="•"/>
            </a:pPr>
            <a:r>
              <a:rPr lang="en-US" sz="3399">
                <a:solidFill>
                  <a:srgbClr val="000000"/>
                </a:solidFill>
                <a:latin typeface="DM Serif Display"/>
                <a:ea typeface="DM Serif Display"/>
                <a:cs typeface="DM Serif Display"/>
                <a:sym typeface="DM Serif Display"/>
              </a:rPr>
              <a:t>Chưa hỗ trợ đặt hàng online từ phía khách hàng</a:t>
            </a:r>
          </a:p>
          <a:p>
            <a:pPr marL="734059" lvl="1" indent="-367030" algn="l">
              <a:lnSpc>
                <a:spcPts val="4759"/>
              </a:lnSpc>
              <a:spcBef>
                <a:spcPct val="0"/>
              </a:spcBef>
              <a:buFont typeface="Arial"/>
              <a:buChar char="•"/>
            </a:pPr>
            <a:r>
              <a:rPr lang="en-US" sz="3399">
                <a:solidFill>
                  <a:srgbClr val="000000"/>
                </a:solidFill>
                <a:latin typeface="DM Serif Display"/>
                <a:ea typeface="DM Serif Display"/>
                <a:cs typeface="DM Serif Display"/>
                <a:sym typeface="DM Serif Display"/>
              </a:rPr>
              <a:t>Chưa triển khai chức năng gửi email hoặc thông báo tự động.</a:t>
            </a:r>
          </a:p>
          <a:p>
            <a:pPr algn="l">
              <a:lnSpc>
                <a:spcPts val="4759"/>
              </a:lnSpc>
              <a:spcBef>
                <a:spcPct val="0"/>
              </a:spcBef>
            </a:pPr>
            <a:r>
              <a:rPr lang="en-US" sz="3399">
                <a:solidFill>
                  <a:srgbClr val="000000"/>
                </a:solidFill>
                <a:latin typeface="DM Serif Display"/>
                <a:ea typeface="DM Serif Display"/>
                <a:cs typeface="DM Serif Display"/>
                <a:sym typeface="DM Serif Display"/>
              </a:rPr>
              <a:t> </a:t>
            </a:r>
          </a:p>
          <a:p>
            <a:pPr algn="l">
              <a:lnSpc>
                <a:spcPts val="4759"/>
              </a:lnSpc>
              <a:spcBef>
                <a:spcPct val="0"/>
              </a:spcBef>
            </a:pPr>
            <a:r>
              <a:rPr lang="en-US" sz="3399">
                <a:solidFill>
                  <a:srgbClr val="000000"/>
                </a:solidFill>
                <a:latin typeface="DM Serif Display"/>
                <a:ea typeface="DM Serif Display"/>
                <a:cs typeface="DM Serif Display"/>
                <a:sym typeface="DM Serif Display"/>
              </a:rPr>
              <a:t>Hệ thống hiện mới hoạt động trên môi trường cục bộ và chưa được triển khai thực tế trên máy chủ hoặc nền tảng đám mây. Ngoài ra, các tính năng nâng cao như biểu đồ thống kê trực quan, ứng dụng di động vẫn chưa được thực hiện.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468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1028700" y="720868"/>
            <a:ext cx="4273451" cy="758825"/>
          </a:xfrm>
          <a:prstGeom prst="rect">
            <a:avLst/>
          </a:prstGeom>
        </p:spPr>
        <p:txBody>
          <a:bodyPr lIns="0" tIns="0" rIns="0" bIns="0" rtlCol="0" anchor="t">
            <a:spAutoFit/>
          </a:bodyPr>
          <a:lstStyle/>
          <a:p>
            <a:pPr algn="ctr">
              <a:lnSpc>
                <a:spcPts val="6460"/>
              </a:lnSpc>
              <a:spcBef>
                <a:spcPct val="0"/>
              </a:spcBef>
            </a:pPr>
            <a:r>
              <a:rPr lang="en-US" sz="3800">
                <a:solidFill>
                  <a:srgbClr val="000000"/>
                </a:solidFill>
                <a:latin typeface="DM Serif Display"/>
                <a:ea typeface="DM Serif Display"/>
                <a:cs typeface="DM Serif Display"/>
                <a:sym typeface="DM Serif Display"/>
              </a:rPr>
              <a:t>b. Hướng phát triển</a:t>
            </a:r>
          </a:p>
        </p:txBody>
      </p:sp>
      <p:sp>
        <p:nvSpPr>
          <p:cNvPr id="4" name="TextBox 4"/>
          <p:cNvSpPr txBox="1"/>
          <p:nvPr/>
        </p:nvSpPr>
        <p:spPr>
          <a:xfrm>
            <a:off x="1512803" y="1634801"/>
            <a:ext cx="14954084" cy="8372475"/>
          </a:xfrm>
          <a:prstGeom prst="rect">
            <a:avLst/>
          </a:prstGeom>
        </p:spPr>
        <p:txBody>
          <a:bodyPr lIns="0" tIns="0" rIns="0" bIns="0" rtlCol="0" anchor="t">
            <a:spAutoFit/>
          </a:bodyPr>
          <a:lstStyle/>
          <a:p>
            <a:pPr algn="just">
              <a:lnSpc>
                <a:spcPts val="5100"/>
              </a:lnSpc>
              <a:spcBef>
                <a:spcPct val="0"/>
              </a:spcBef>
            </a:pPr>
            <a:r>
              <a:rPr lang="en-US" sz="3000">
                <a:solidFill>
                  <a:srgbClr val="000000"/>
                </a:solidFill>
                <a:latin typeface="DM Serif Display"/>
                <a:ea typeface="DM Serif Display"/>
                <a:cs typeface="DM Serif Display"/>
                <a:sym typeface="DM Serif Display"/>
              </a:rPr>
              <a:t>Do giới hạn về thời gian và phạm vi của đồ án môn học, hệ thống hiện chỉ dừng lại ở mức demo và đáp ứng các yêu cầu cơ bản. Trong tương lai, nếu có điều kiện phát triển thêm, hệ thống có thể được bổ sung một số chức năng như: </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 Quản lý bàn và sơ đồ quán cà phê.</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 Quản lý khách hàng thân thiết và tích điểm thành viên. </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 Thống kê doanh thu bằng biểu đồ trực quan. </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 Xuất hóa đơn và báo cáo dưới dạng PDF hoặc Excel. </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 Cải thiện giao diện người dùng để thân thiện và hiện đại hơn. </a:t>
            </a:r>
          </a:p>
          <a:p>
            <a:pPr algn="just">
              <a:lnSpc>
                <a:spcPts val="5100"/>
              </a:lnSpc>
              <a:spcBef>
                <a:spcPct val="0"/>
              </a:spcBef>
            </a:pPr>
            <a:r>
              <a:rPr lang="en-US" sz="3000">
                <a:solidFill>
                  <a:srgbClr val="000000"/>
                </a:solidFill>
                <a:latin typeface="DM Serif Display"/>
                <a:ea typeface="DM Serif Display"/>
                <a:cs typeface="DM Serif Display"/>
                <a:sym typeface="DM Serif Display"/>
              </a:rPr>
              <a:t>     + Tối ưu hiệu năng và nâng cao tính bảo mật cho hệ thống.</a:t>
            </a:r>
          </a:p>
          <a:p>
            <a:pPr algn="just">
              <a:lnSpc>
                <a:spcPts val="5100"/>
              </a:lnSpc>
              <a:spcBef>
                <a:spcPct val="0"/>
              </a:spcBef>
            </a:pPr>
            <a:endParaRPr lang="en-US" sz="3000">
              <a:solidFill>
                <a:srgbClr val="000000"/>
              </a:solidFill>
              <a:latin typeface="DM Serif Display"/>
              <a:ea typeface="DM Serif Display"/>
              <a:cs typeface="DM Serif Display"/>
              <a:sym typeface="DM Serif Display"/>
            </a:endParaRPr>
          </a:p>
          <a:p>
            <a:pPr algn="just">
              <a:lnSpc>
                <a:spcPts val="5100"/>
              </a:lnSpc>
              <a:spcBef>
                <a:spcPct val="0"/>
              </a:spcBef>
            </a:pPr>
            <a:r>
              <a:rPr lang="en-US" sz="3000">
                <a:solidFill>
                  <a:srgbClr val="000000"/>
                </a:solidFill>
                <a:latin typeface="DM Serif Display"/>
                <a:ea typeface="DM Serif Display"/>
                <a:cs typeface="DM Serif Display"/>
                <a:sym typeface="DM Serif Display"/>
              </a:rPr>
              <a:t> Nhìn chung, đề tài đã hoàn thành các mục tiêu được đặt ra ban đầu, đáp ứng yêu cầu của môn học và là cơ sở để nhóm tiếp tục nghiên cứu, phát triển các dự án Web thực tế trong tương lai.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442710" y="3369664"/>
            <a:ext cx="11402580" cy="3185722"/>
          </a:xfrm>
          <a:prstGeom prst="rect">
            <a:avLst/>
          </a:prstGeom>
        </p:spPr>
        <p:txBody>
          <a:bodyPr lIns="0" tIns="0" rIns="0" bIns="0" rtlCol="0" anchor="t">
            <a:spAutoFit/>
          </a:bodyPr>
          <a:lstStyle/>
          <a:p>
            <a:pPr marL="0" lvl="0" indent="0" algn="ctr">
              <a:lnSpc>
                <a:spcPts val="26009"/>
              </a:lnSpc>
              <a:spcBef>
                <a:spcPct val="0"/>
              </a:spcBef>
            </a:pPr>
            <a:r>
              <a:rPr lang="en-US" sz="18577" b="1" i="1">
                <a:solidFill>
                  <a:srgbClr val="0F4662"/>
                </a:solidFill>
                <a:latin typeface="Cormorant Garamond Bold Italics"/>
                <a:ea typeface="Cormorant Garamond Bold Italics"/>
                <a:cs typeface="Cormorant Garamond Bold Italics"/>
                <a:sym typeface="Cormorant Garamond Bold Italics"/>
              </a:rPr>
              <a:t>Thank you</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1296</Words>
  <Application>Microsoft Office PowerPoint</Application>
  <PresentationFormat>Custom</PresentationFormat>
  <Paragraphs>89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Canva Sans</vt:lpstr>
      <vt:lpstr>Arial</vt:lpstr>
      <vt:lpstr>Calibri</vt:lpstr>
      <vt:lpstr>DM Serif Display</vt:lpstr>
      <vt:lpstr>Quicksand</vt:lpstr>
      <vt:lpstr>Quicksand Bold</vt:lpstr>
      <vt:lpstr>Cormorant Garamond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Lí Quán Cà Phê</dc:title>
  <cp:lastModifiedBy>Nguyễn Đức Thịnh</cp:lastModifiedBy>
  <cp:revision>4</cp:revision>
  <dcterms:created xsi:type="dcterms:W3CDTF">2006-08-16T00:00:00Z</dcterms:created>
  <dcterms:modified xsi:type="dcterms:W3CDTF">2026-07-08T14:31:22Z</dcterms:modified>
  <dc:identifier>DAHOluXshDM</dc:identifier>
</cp:coreProperties>
</file>